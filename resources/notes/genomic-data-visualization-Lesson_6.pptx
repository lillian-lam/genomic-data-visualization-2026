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98" r:id="rId2"/>
    <p:sldId id="765" r:id="rId3"/>
    <p:sldId id="764" r:id="rId4"/>
    <p:sldId id="754" r:id="rId5"/>
    <p:sldId id="260" r:id="rId6"/>
    <p:sldId id="263" r:id="rId7"/>
    <p:sldId id="264" r:id="rId8"/>
    <p:sldId id="265" r:id="rId9"/>
    <p:sldId id="266" r:id="rId10"/>
    <p:sldId id="267" r:id="rId11"/>
    <p:sldId id="763" r:id="rId12"/>
    <p:sldId id="261" r:id="rId13"/>
    <p:sldId id="755" r:id="rId14"/>
    <p:sldId id="748" r:id="rId15"/>
    <p:sldId id="762" r:id="rId16"/>
    <p:sldId id="75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92"/>
    <p:restoredTop sz="96327"/>
  </p:normalViewPr>
  <p:slideViewPr>
    <p:cSldViewPr snapToGrid="0">
      <p:cViewPr varScale="1">
        <p:scale>
          <a:sx n="128" d="100"/>
          <a:sy n="128" d="100"/>
        </p:scale>
        <p:origin x="4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3CC23-BCD1-544F-A2DC-BEA0947E0277}" type="datetimeFigureOut">
              <a:rPr lang="en-US" smtClean="0"/>
              <a:t>2/3/26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6CA77B-764E-734A-B624-5DE1F0EE2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179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49A23E-8667-2848-AF09-4C52B690452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7858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Differentially expressed genes</a:t>
            </a:r>
          </a:p>
          <a:p>
            <a:r>
              <a:rPr lang="en-US" dirty="0"/>
              <a:t>Differentially upregulated genes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49A23E-8667-2848-AF09-4C52B690452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6084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6CA77B-764E-734A-B624-5DE1F0EE287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1556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6CA77B-764E-734A-B624-5DE1F0EE287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1700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49A23E-8667-2848-AF09-4C52B690452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275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2AA7A-4454-2272-2435-A8A4101A6F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60347F-F407-BB11-21CB-3E2A79ACD5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07EF5-5020-2F82-6CCF-751517578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5B280-84B9-9640-AC05-2807480353DA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D7040-C7DC-6F12-3A52-0244372CC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27CB7-7456-D052-11E3-22FC264F4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EAC96-F371-134A-933D-052FCFCE5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096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A15BB-CEFE-CE0B-EABC-C9DAED74F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57CE6-B8FD-A653-90B2-700C0F4AB5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7FC3F3-08A0-03B8-FCC2-649750881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5B280-84B9-9640-AC05-2807480353DA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E2470-D3A7-D3BB-95EF-8EE149CE4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354F9-FF5D-F6E8-374D-56B11C547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EAC96-F371-134A-933D-052FCFCE5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823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71A22-E67F-4963-DD48-A65B9E3B2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963327-B61E-5662-170B-4237C34A3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47B0E-C9ED-AC2F-90ED-A8931007B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5B280-84B9-9640-AC05-2807480353DA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0A850-5E57-8D7D-EB49-6CA2A3D98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41891-C45A-756B-EC13-E75EFB2CF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EAC96-F371-134A-933D-052FCFCE5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61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5054B-94F9-CE22-341E-0254F62C0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B0D2B-D4F0-1537-6D62-D9914D6554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4DFADA-C534-9130-8A7A-130716AF2D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179DD2-16BF-0458-070B-C83BC5FC3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5B280-84B9-9640-AC05-2807480353DA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082057-E7E7-6756-1C9C-D4FA4A5D9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B8982C-F5DE-CBD1-A1AC-9DC546507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EAC96-F371-134A-933D-052FCFCE5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774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BFA00-3F50-F134-DBCE-AC32E549E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7A97BA-4A33-0115-9923-A33F5A76C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CF3E4F-65F1-A284-6CDC-E4E54DE68D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CC3579-29A6-470C-6619-D90BB7FEE5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47B3E8-6F51-6723-F95A-F27AE34B6B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006D00-9357-F840-E6BE-81722A711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5B280-84B9-9640-AC05-2807480353DA}" type="datetimeFigureOut">
              <a:rPr lang="en-US" smtClean="0"/>
              <a:t>2/3/26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594F72-E4A6-A0D9-B5C7-46EB92819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AB9FC7-E21E-47A1-18EC-774470810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EAC96-F371-134A-933D-052FCFCE5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523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D113D-AA51-39A3-5CCA-9B8993C7C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F2580C-4744-827A-D85F-8A68F633D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5B280-84B9-9640-AC05-2807480353DA}" type="datetimeFigureOut">
              <a:rPr lang="en-US" smtClean="0"/>
              <a:t>2/3/26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A1DF48-D1E5-07B7-75B5-F555F0928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075374-D9A9-BB96-36BC-829C806DE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EAC96-F371-134A-933D-052FCFCE5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909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EEE773-E93E-7EE6-F791-0E7375BFF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5B280-84B9-9640-AC05-2807480353DA}" type="datetimeFigureOut">
              <a:rPr lang="en-US" smtClean="0"/>
              <a:t>2/3/26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529802-2795-179B-65FE-6D758F6C4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59F1B5-6685-4882-1CBE-4D3A86B6F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EAC96-F371-134A-933D-052FCFCE5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552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44CF0-0BFF-D879-44D4-F7B979B30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87AC6-930D-0AAE-5534-C1520BE87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1067F9-D084-F7D2-E573-D21FA1B26F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1003F2-0F8F-0885-B8A0-C960464C3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5B280-84B9-9640-AC05-2807480353DA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18EFC4-1169-504D-FCFF-63DFC6AA7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C6C4F-920C-DB1D-1B74-528575A85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EAC96-F371-134A-933D-052FCFCE5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248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8F722-9FDF-1DB3-D44E-1C0B0357D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693F72-B6B7-A682-EBFD-2579AE80D0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C43CA-23A6-6F4C-FB38-2AC9F3420A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FB654E-4887-CE71-2053-469ADA611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5B280-84B9-9640-AC05-2807480353DA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716C66-500A-EA0F-90E4-BDD05195D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1B4AE0-7725-67CE-753E-772805C13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EAC96-F371-134A-933D-052FCFCE5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843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65F35-4FDB-1E0F-98F1-E321449B2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25C5BD-08C4-23D8-1B81-3592F0A5C2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E0DCA-596E-8800-900F-7B72DE226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5B280-84B9-9640-AC05-2807480353DA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B4164-B86A-70E6-FFA5-090BF9FA2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55A62-274A-32EE-068E-711279104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EAC96-F371-134A-933D-052FCFCE5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283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E1C4F9-4823-0828-BD57-BBCD3CB053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1294D2-7624-A1A4-7985-881503FB84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C60DC-A9F3-034B-08F0-69394700B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5B280-84B9-9640-AC05-2807480353DA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E9D58-440F-BA91-E111-BFC13341B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10948-9F03-EE7E-57FE-4FC91D1A9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EAC96-F371-134A-933D-052FCFCE5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586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E0E58-888D-13B8-969B-5DEBE6588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6E6066-2D8F-DCA6-6ACD-1B5B12875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5B289-0F76-0913-2F1A-14EF84CBF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E5B280-84B9-9640-AC05-2807480353DA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5A1F3-61BA-563E-9050-838916B46B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43BFA0-AE69-9E6A-13EB-4A6F03F3BF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AEAC96-F371-134A-933D-052FCFCE5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313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BD3AC-550C-F448-AA0E-9671A0B2B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2729" y="1289303"/>
            <a:ext cx="9638443" cy="3339303"/>
          </a:xfrm>
          <a:ln>
            <a:noFill/>
          </a:ln>
        </p:spPr>
        <p:txBody>
          <a:bodyPr vert="horz" lIns="274320" tIns="182880" rIns="274320" bIns="182880" rtlCol="0" anchor="ctr" anchorCtr="1">
            <a:normAutofit fontScale="90000"/>
          </a:bodyPr>
          <a:lstStyle/>
          <a:p>
            <a:r>
              <a:rPr lang="en-US" sz="5400" b="0" i="0" dirty="0">
                <a:solidFill>
                  <a:srgbClr val="202124"/>
                </a:solidFill>
                <a:effectLst/>
                <a:latin typeface="docs-Roboto"/>
              </a:rPr>
              <a:t>EN.580.428 </a:t>
            </a:r>
            <a:br>
              <a:rPr lang="en-US" sz="5400" b="0" i="0" dirty="0">
                <a:solidFill>
                  <a:srgbClr val="202124"/>
                </a:solidFill>
                <a:effectLst/>
                <a:latin typeface="docs-Roboto"/>
              </a:rPr>
            </a:br>
            <a:r>
              <a:rPr lang="en-US" sz="5400" b="0" i="0" dirty="0">
                <a:solidFill>
                  <a:srgbClr val="202124"/>
                </a:solidFill>
                <a:effectLst/>
                <a:latin typeface="docs-Roboto"/>
              </a:rPr>
              <a:t>Genomic Data Visualization</a:t>
            </a:r>
            <a:br>
              <a:rPr lang="en-US" sz="5400" b="0" i="0" dirty="0">
                <a:solidFill>
                  <a:srgbClr val="202124"/>
                </a:solidFill>
                <a:effectLst/>
                <a:latin typeface="docs-Roboto"/>
              </a:rPr>
            </a:br>
            <a:r>
              <a:rPr lang="en-US" sz="5400" b="0" i="0" dirty="0">
                <a:solidFill>
                  <a:srgbClr val="202124"/>
                </a:solidFill>
                <a:effectLst/>
                <a:latin typeface="docs-Roboto"/>
              </a:rPr>
              <a:t>Lesson 6</a:t>
            </a:r>
            <a:br>
              <a:rPr lang="en-US" sz="5400" b="0" i="0" dirty="0">
                <a:solidFill>
                  <a:srgbClr val="202124"/>
                </a:solidFill>
                <a:effectLst/>
                <a:latin typeface="docs-Roboto"/>
              </a:rPr>
            </a:br>
            <a:br>
              <a:rPr lang="en-US" sz="5000" dirty="0"/>
            </a:br>
            <a:r>
              <a:rPr lang="en-US" sz="5000" dirty="0"/>
              <a:t>Differential Expression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C2EFB6-6688-534D-88FE-6CB4D5345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729" y="5499895"/>
            <a:ext cx="9638443" cy="484633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Prof. Jean Fan</a:t>
            </a:r>
          </a:p>
        </p:txBody>
      </p:sp>
    </p:spTree>
    <p:extLst>
      <p:ext uri="{BB962C8B-B14F-4D97-AF65-F5344CB8AC3E}">
        <p14:creationId xmlns:p14="http://schemas.microsoft.com/office/powerpoint/2010/main" val="555411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39C02-DD97-12E6-A430-73E1AF065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clustering algorithm on </a:t>
            </a:r>
            <a:r>
              <a:rPr lang="en-US" dirty="0" err="1"/>
              <a:t>tSNE</a:t>
            </a:r>
            <a:r>
              <a:rPr lang="en-US" dirty="0"/>
              <a:t>?</a:t>
            </a:r>
          </a:p>
        </p:txBody>
      </p:sp>
      <p:pic>
        <p:nvPicPr>
          <p:cNvPr id="3074" name="Picture 2" descr="K-Means Clustering — The Science of Machine Learning">
            <a:extLst>
              <a:ext uri="{FF2B5EF4-FFF2-40B4-BE49-F238E27FC236}">
                <a16:creationId xmlns:a16="http://schemas.microsoft.com/office/drawing/2014/main" id="{ACBBC6FF-BE39-AD44-7EEC-898968FB10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590" b="62187"/>
          <a:stretch/>
        </p:blipFill>
        <p:spPr bwMode="auto">
          <a:xfrm>
            <a:off x="6954343" y="1709348"/>
            <a:ext cx="3895365" cy="1208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F0E44C7-93BB-8554-1B26-784974557DC6}"/>
              </a:ext>
            </a:extLst>
          </p:cNvPr>
          <p:cNvSpPr txBox="1"/>
          <p:nvPr/>
        </p:nvSpPr>
        <p:spPr>
          <a:xfrm>
            <a:off x="5714947" y="5888220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00AC59-FC82-2E32-6578-D16817A4B72C}"/>
              </a:ext>
            </a:extLst>
          </p:cNvPr>
          <p:cNvSpPr txBox="1"/>
          <p:nvPr/>
        </p:nvSpPr>
        <p:spPr>
          <a:xfrm rot="16200000">
            <a:off x="4025304" y="4143934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B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2271F16-90EA-8AC8-C542-C31A7909EF95}"/>
              </a:ext>
            </a:extLst>
          </p:cNvPr>
          <p:cNvCxnSpPr/>
          <p:nvPr/>
        </p:nvCxnSpPr>
        <p:spPr>
          <a:xfrm flipV="1">
            <a:off x="4640536" y="2945514"/>
            <a:ext cx="0" cy="29427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2064E9D-26B6-4CA0-1745-3E6BECB637D5}"/>
              </a:ext>
            </a:extLst>
          </p:cNvPr>
          <p:cNvCxnSpPr>
            <a:cxnSpLocks/>
          </p:cNvCxnSpPr>
          <p:nvPr/>
        </p:nvCxnSpPr>
        <p:spPr>
          <a:xfrm>
            <a:off x="4640536" y="5888220"/>
            <a:ext cx="30179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B91E020F-7069-732C-E73A-052BF23E5254}"/>
              </a:ext>
            </a:extLst>
          </p:cNvPr>
          <p:cNvSpPr/>
          <p:nvPr/>
        </p:nvSpPr>
        <p:spPr>
          <a:xfrm>
            <a:off x="4840041" y="4922357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D36547A-B63E-822D-5E7A-7C13B5A9B74C}"/>
              </a:ext>
            </a:extLst>
          </p:cNvPr>
          <p:cNvSpPr/>
          <p:nvPr/>
        </p:nvSpPr>
        <p:spPr>
          <a:xfrm>
            <a:off x="5028113" y="5369260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9B72B95-8F4E-75AE-9D40-DCE34A599EFF}"/>
              </a:ext>
            </a:extLst>
          </p:cNvPr>
          <p:cNvSpPr/>
          <p:nvPr/>
        </p:nvSpPr>
        <p:spPr>
          <a:xfrm>
            <a:off x="5387630" y="5024436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9333EF6-8A61-972B-1601-B36A07AD6EC4}"/>
              </a:ext>
            </a:extLst>
          </p:cNvPr>
          <p:cNvSpPr/>
          <p:nvPr/>
        </p:nvSpPr>
        <p:spPr>
          <a:xfrm>
            <a:off x="5548411" y="3464535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CDA73A8-15D2-4AAC-5EA0-031A3C0003D4}"/>
              </a:ext>
            </a:extLst>
          </p:cNvPr>
          <p:cNvSpPr/>
          <p:nvPr/>
        </p:nvSpPr>
        <p:spPr>
          <a:xfrm>
            <a:off x="5736483" y="3911438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CF54FE5-7DD5-B543-E057-2E7BD409BA87}"/>
              </a:ext>
            </a:extLst>
          </p:cNvPr>
          <p:cNvSpPr/>
          <p:nvPr/>
        </p:nvSpPr>
        <p:spPr>
          <a:xfrm>
            <a:off x="6096000" y="3566614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9F43BF9-56F1-253F-EE50-AF4E0220A845}"/>
              </a:ext>
            </a:extLst>
          </p:cNvPr>
          <p:cNvSpPr/>
          <p:nvPr/>
        </p:nvSpPr>
        <p:spPr>
          <a:xfrm>
            <a:off x="6543269" y="4578440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35D3B5F-C350-3AFA-A135-C6DBC5F7A889}"/>
              </a:ext>
            </a:extLst>
          </p:cNvPr>
          <p:cNvSpPr/>
          <p:nvPr/>
        </p:nvSpPr>
        <p:spPr>
          <a:xfrm>
            <a:off x="6731341" y="5025343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6A4FC9B-6BC2-8750-1276-87E3CCA9FF77}"/>
              </a:ext>
            </a:extLst>
          </p:cNvPr>
          <p:cNvSpPr/>
          <p:nvPr/>
        </p:nvSpPr>
        <p:spPr>
          <a:xfrm>
            <a:off x="7090858" y="4680519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060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89C422E-C3C8-A81A-B7EF-8C357F7FACFD}"/>
              </a:ext>
            </a:extLst>
          </p:cNvPr>
          <p:cNvSpPr txBox="1">
            <a:spLocks/>
          </p:cNvSpPr>
          <p:nvPr/>
        </p:nvSpPr>
        <p:spPr>
          <a:xfrm>
            <a:off x="10197342" y="-622227"/>
            <a:ext cx="2312915" cy="2312915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1750" cap="sq">
            <a:noFill/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>
                <a:solidFill>
                  <a:srgbClr val="FFFFFF"/>
                </a:solidFill>
              </a:rPr>
              <a:t>Practice</a:t>
            </a:r>
          </a:p>
        </p:txBody>
      </p:sp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88DB1CD-B39C-E026-E627-A83290CED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21" y="345833"/>
            <a:ext cx="7363326" cy="333175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7B8634F-F6E1-8C0F-4D9B-852C1C361F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71"/>
          <a:stretch>
            <a:fillRect/>
          </a:stretch>
        </p:blipFill>
        <p:spPr>
          <a:xfrm>
            <a:off x="6853238" y="3983279"/>
            <a:ext cx="2638915" cy="252888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4EF7CB4-7241-C191-C9C3-ACFA5A29508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760"/>
          <a:stretch>
            <a:fillRect/>
          </a:stretch>
        </p:blipFill>
        <p:spPr>
          <a:xfrm>
            <a:off x="2906261" y="3983279"/>
            <a:ext cx="2633646" cy="2528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939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8C757-0D0A-1419-6B43-346301204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03A4D-49B1-D3D5-FF7C-A14F2F40B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 about and apply statistical approaches to identify differentially expressed genes</a:t>
            </a:r>
          </a:p>
        </p:txBody>
      </p:sp>
    </p:spTree>
    <p:extLst>
      <p:ext uri="{BB962C8B-B14F-4D97-AF65-F5344CB8AC3E}">
        <p14:creationId xmlns:p14="http://schemas.microsoft.com/office/powerpoint/2010/main" val="1348287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92FCD-97A3-C441-38A6-CE1C90C64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4DF96-BFF2-8B0E-8171-7551D72CCC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Differentially expressed genes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Differentially upregulated genes</a:t>
            </a:r>
          </a:p>
          <a:p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2EDC37E-5265-F732-C02A-BBB2E7EAE441}"/>
              </a:ext>
            </a:extLst>
          </p:cNvPr>
          <p:cNvGrpSpPr/>
          <p:nvPr/>
        </p:nvGrpSpPr>
        <p:grpSpPr>
          <a:xfrm>
            <a:off x="7955135" y="931471"/>
            <a:ext cx="2818882" cy="3069823"/>
            <a:chOff x="4288735" y="2222126"/>
            <a:chExt cx="3614531" cy="3936302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F964374-DB7B-4F1A-67F4-998B7BB99069}"/>
                </a:ext>
              </a:extLst>
            </p:cNvPr>
            <p:cNvCxnSpPr/>
            <p:nvPr/>
          </p:nvCxnSpPr>
          <p:spPr>
            <a:xfrm>
              <a:off x="4288735" y="2282825"/>
              <a:ext cx="0" cy="3588026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F3BA967-989D-1670-29EB-19D476518D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88735" y="5870851"/>
              <a:ext cx="3614531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FAF95B8-9CD8-2376-852F-FB8BDAB83013}"/>
                </a:ext>
              </a:extLst>
            </p:cNvPr>
            <p:cNvSpPr txBox="1"/>
            <p:nvPr/>
          </p:nvSpPr>
          <p:spPr>
            <a:xfrm>
              <a:off x="7076776" y="5849830"/>
              <a:ext cx="762066" cy="3085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Gene A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F9F3100-CB48-6440-1A5A-454D0CDE0DDC}"/>
                </a:ext>
              </a:extLst>
            </p:cNvPr>
            <p:cNvSpPr txBox="1"/>
            <p:nvPr/>
          </p:nvSpPr>
          <p:spPr>
            <a:xfrm rot="16200000">
              <a:off x="4090762" y="2450467"/>
              <a:ext cx="765280" cy="3085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Gene B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E48EE5E-F33B-A292-EA33-CA2F77D47145}"/>
                </a:ext>
              </a:extLst>
            </p:cNvPr>
            <p:cNvSpPr/>
            <p:nvPr/>
          </p:nvSpPr>
          <p:spPr>
            <a:xfrm>
              <a:off x="6884345" y="3175416"/>
              <a:ext cx="331303" cy="331303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827AD93-E440-8258-3403-DFDD9E19C175}"/>
                </a:ext>
              </a:extLst>
            </p:cNvPr>
            <p:cNvSpPr/>
            <p:nvPr/>
          </p:nvSpPr>
          <p:spPr>
            <a:xfrm>
              <a:off x="7016835" y="3703332"/>
              <a:ext cx="331303" cy="331303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3B338D1-20AB-7F27-D119-F12A2C80CEDD}"/>
                </a:ext>
              </a:extLst>
            </p:cNvPr>
            <p:cNvSpPr/>
            <p:nvPr/>
          </p:nvSpPr>
          <p:spPr>
            <a:xfrm>
              <a:off x="6573165" y="3550791"/>
              <a:ext cx="331303" cy="331303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161AD56-291C-B128-24F8-D6E75AAFF965}"/>
                </a:ext>
              </a:extLst>
            </p:cNvPr>
            <p:cNvSpPr/>
            <p:nvPr/>
          </p:nvSpPr>
          <p:spPr>
            <a:xfrm>
              <a:off x="7459333" y="3288546"/>
              <a:ext cx="331303" cy="331303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29EAD20-577D-DEF2-7A8C-F5D60D8E5FD2}"/>
                </a:ext>
              </a:extLst>
            </p:cNvPr>
            <p:cNvSpPr/>
            <p:nvPr/>
          </p:nvSpPr>
          <p:spPr>
            <a:xfrm>
              <a:off x="6407514" y="3139558"/>
              <a:ext cx="331303" cy="331303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E73DB98-B7F2-2696-7DDE-B924ECDD6652}"/>
                </a:ext>
              </a:extLst>
            </p:cNvPr>
            <p:cNvSpPr/>
            <p:nvPr/>
          </p:nvSpPr>
          <p:spPr>
            <a:xfrm>
              <a:off x="5288399" y="3825264"/>
              <a:ext cx="331303" cy="331303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771C752-A236-DB89-EB98-BFCBE58E11E0}"/>
                </a:ext>
              </a:extLst>
            </p:cNvPr>
            <p:cNvSpPr/>
            <p:nvPr/>
          </p:nvSpPr>
          <p:spPr>
            <a:xfrm>
              <a:off x="4842833" y="3911185"/>
              <a:ext cx="331303" cy="331303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A3E63C8-186A-A1D6-4C05-46882A40E96B}"/>
                </a:ext>
              </a:extLst>
            </p:cNvPr>
            <p:cNvSpPr/>
            <p:nvPr/>
          </p:nvSpPr>
          <p:spPr>
            <a:xfrm>
              <a:off x="5119402" y="3372027"/>
              <a:ext cx="331303" cy="331303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699B065-E2CD-E0D5-5D50-4B6B62FE1DDC}"/>
                </a:ext>
              </a:extLst>
            </p:cNvPr>
            <p:cNvSpPr/>
            <p:nvPr/>
          </p:nvSpPr>
          <p:spPr>
            <a:xfrm>
              <a:off x="4458705" y="3372028"/>
              <a:ext cx="331303" cy="331303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08394349-2209-C005-F039-B30EC29FAF4A}"/>
                </a:ext>
              </a:extLst>
            </p:cNvPr>
            <p:cNvSpPr/>
            <p:nvPr/>
          </p:nvSpPr>
          <p:spPr>
            <a:xfrm>
              <a:off x="4875185" y="2910788"/>
              <a:ext cx="331303" cy="331303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53677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92FCD-97A3-C441-38A6-CE1C90C64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4DF96-BFF2-8B0E-8171-7551D72CCC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Why identify differentially expressed genes?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200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1F27C-B2EE-3FD6-F7C4-8AC7223D9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T-test: testing a difference of means (intuition)</a:t>
            </a:r>
          </a:p>
        </p:txBody>
      </p:sp>
      <p:pic>
        <p:nvPicPr>
          <p:cNvPr id="4098" name="Picture 2" descr="t test formula">
            <a:extLst>
              <a:ext uri="{FF2B5EF4-FFF2-40B4-BE49-F238E27FC236}">
                <a16:creationId xmlns:a16="http://schemas.microsoft.com/office/drawing/2014/main" id="{FF991745-B956-3040-DC2F-A05AB7AAF6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6499" y="1512903"/>
            <a:ext cx="2719001" cy="1169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9959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1F27C-B2EE-3FD6-F7C4-8AC7223D9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T-test assumptions and data visualization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4674E8-27CA-334D-9203-7110DCA57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4A4C4D"/>
                </a:solidFill>
                <a:effectLst/>
                <a:latin typeface="InterFace"/>
              </a:rPr>
              <a:t>that the data are quantitative and plausibly Gaussian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4A4C4D"/>
                </a:solidFill>
                <a:effectLst/>
                <a:latin typeface="InterFace"/>
              </a:rPr>
              <a:t>that the two samples come from distributions that may differ in their mean value, but not in the standard deviation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40CC94-0E3B-73D9-AF74-434CD876B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592" y="3609974"/>
            <a:ext cx="8874815" cy="288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72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2C17C-8E8B-0046-EF6B-8CF28B5FE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Wilcoxon Rank Sum Test (Mann–Whitney U test ): </a:t>
            </a:r>
            <a:br>
              <a:rPr lang="en-US" sz="3200" dirty="0"/>
            </a:br>
            <a:r>
              <a:rPr lang="en-US" sz="3200" dirty="0"/>
              <a:t>testing a difference in ranks (intuition)</a:t>
            </a:r>
          </a:p>
        </p:txBody>
      </p:sp>
      <p:pic>
        <p:nvPicPr>
          <p:cNvPr id="6146" name="Picture 2" descr="Mann-Whitney U Test formulas">
            <a:extLst>
              <a:ext uri="{FF2B5EF4-FFF2-40B4-BE49-F238E27FC236}">
                <a16:creationId xmlns:a16="http://schemas.microsoft.com/office/drawing/2014/main" id="{D9C635CB-EDC2-E19E-BD76-CABB31C543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54" t="8481" r="26918" b="56938"/>
          <a:stretch/>
        </p:blipFill>
        <p:spPr bwMode="auto">
          <a:xfrm>
            <a:off x="4531908" y="1690688"/>
            <a:ext cx="3113903" cy="1490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3668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D00CF-B9D4-F6A4-D450-375EB7F19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statistical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4B465-F7EB-75FF-698F-EF866EBE0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other tests that incorporate different normalizations, error modeling, Bayesian approaches, </a:t>
            </a:r>
            <a:r>
              <a:rPr lang="en-US" dirty="0" err="1"/>
              <a:t>etc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Goal is to improve our statistical power in detecting true positives and true negatives while minimizing false positives and false negatives</a:t>
            </a:r>
          </a:p>
          <a:p>
            <a:pPr lvl="1"/>
            <a:r>
              <a:rPr lang="en-US" dirty="0"/>
              <a:t>Often becomes a trade-off with speed and computational complexity</a:t>
            </a:r>
          </a:p>
        </p:txBody>
      </p:sp>
    </p:spTree>
    <p:extLst>
      <p:ext uri="{BB962C8B-B14F-4D97-AF65-F5344CB8AC3E}">
        <p14:creationId xmlns:p14="http://schemas.microsoft.com/office/powerpoint/2010/main" val="3297292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1B81A-1F7D-497C-CE2A-9C000A0A5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visualizations</a:t>
            </a:r>
          </a:p>
        </p:txBody>
      </p:sp>
      <p:pic>
        <p:nvPicPr>
          <p:cNvPr id="1026" name="Picture 2" descr="Volcano plot labelling top significant genes.">
            <a:extLst>
              <a:ext uri="{FF2B5EF4-FFF2-40B4-BE49-F238E27FC236}">
                <a16:creationId xmlns:a16="http://schemas.microsoft.com/office/drawing/2014/main" id="{F5E7A32F-2E8F-9971-D36B-24F74DDD6D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838" y="1690688"/>
            <a:ext cx="4557713" cy="4584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ene Expression Clustering Tool Heatmap">
            <a:extLst>
              <a:ext uri="{FF2B5EF4-FFF2-40B4-BE49-F238E27FC236}">
                <a16:creationId xmlns:a16="http://schemas.microsoft.com/office/drawing/2014/main" id="{FFE211BD-BA43-4102-DF15-F7329854E0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1690687"/>
            <a:ext cx="5405439" cy="4311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73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D4B2D-9BB0-170E-3C2E-CFF5C5B7C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(no right answer)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BA59A-76AA-B32D-8703-13D74971A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a spatial transcriptomics experiment, we perform k-means clustering to identify 10 cell clusters. For one cell cluster, there is only 1 gene significantly upregulated. Do you believe this cell cluster represents a distinct cell-type? Why or why not?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4E18746-3DC4-D86F-F999-8BC9DBEAD046}"/>
              </a:ext>
            </a:extLst>
          </p:cNvPr>
          <p:cNvSpPr txBox="1">
            <a:spLocks/>
          </p:cNvSpPr>
          <p:nvPr/>
        </p:nvSpPr>
        <p:spPr>
          <a:xfrm>
            <a:off x="10197342" y="-622227"/>
            <a:ext cx="2312915" cy="2312915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1750" cap="sq">
            <a:noFill/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>
                <a:solidFill>
                  <a:srgbClr val="FFFFFF"/>
                </a:solidFill>
              </a:rPr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18853187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DB8F3-5DAA-54B1-FCE6-8413FBE48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EE8CC-CD44-4F97-8EA2-A20676ED8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(no right answer)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27B31-C074-D6E4-0BFB-188573833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a spatial transcriptomics experiment, we perform k-means clustering to identify 10 cell clusters. For one cell cluster, there are are 100 genes significantly upregulated. But this cell cluster only has 2 cells. Do you believe this cell cluster represents a distinct cell-type? Why or why not?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082095-BF4F-8C6E-CF52-C3CC3EB2A4F1}"/>
              </a:ext>
            </a:extLst>
          </p:cNvPr>
          <p:cNvSpPr txBox="1">
            <a:spLocks/>
          </p:cNvSpPr>
          <p:nvPr/>
        </p:nvSpPr>
        <p:spPr>
          <a:xfrm>
            <a:off x="10197342" y="-622227"/>
            <a:ext cx="2312915" cy="2312915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1750" cap="sq">
            <a:noFill/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>
                <a:solidFill>
                  <a:srgbClr val="FFFFFF"/>
                </a:solidFill>
              </a:rPr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38556178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A5E2A-6C57-0D62-A1BC-6DF7720D4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 (due next Wednesday)</a:t>
            </a:r>
          </a:p>
        </p:txBody>
      </p:sp>
      <p:pic>
        <p:nvPicPr>
          <p:cNvPr id="3" name="Picture 2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A0A36028-003E-B113-8DAA-FA84A04D3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855334"/>
            <a:ext cx="7772400" cy="392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826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4CF3D-53F8-1D7A-99C8-EE171C439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Tips of what not to do</a:t>
            </a:r>
          </a:p>
        </p:txBody>
      </p:sp>
    </p:spTree>
    <p:extLst>
      <p:ext uri="{BB962C8B-B14F-4D97-AF65-F5344CB8AC3E}">
        <p14:creationId xmlns:p14="http://schemas.microsoft.com/office/powerpoint/2010/main" val="6892700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AE786032-8175-B5E8-B443-752112B1B8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8902" y="647800"/>
            <a:ext cx="5426676" cy="592255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3AF69D-6358-1494-C632-E170BE7F715C}"/>
              </a:ext>
            </a:extLst>
          </p:cNvPr>
          <p:cNvSpPr txBox="1"/>
          <p:nvPr/>
        </p:nvSpPr>
        <p:spPr>
          <a:xfrm>
            <a:off x="343929" y="105474"/>
            <a:ext cx="6887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https://</a:t>
            </a:r>
            <a:r>
              <a:rPr lang="en-US" b="1" dirty="0" err="1"/>
              <a:t>www.proteinatlas.org</a:t>
            </a:r>
            <a:r>
              <a:rPr lang="en-US" b="1" dirty="0"/>
              <a:t>/</a:t>
            </a:r>
            <a:r>
              <a:rPr lang="en-US" b="1" dirty="0" err="1"/>
              <a:t>humanproteome</a:t>
            </a:r>
            <a:r>
              <a:rPr lang="en-US" b="1" dirty="0"/>
              <a:t>/</a:t>
            </a:r>
            <a:r>
              <a:rPr lang="en-US" b="1" dirty="0" err="1"/>
              <a:t>single+cell+type</a:t>
            </a:r>
            <a:endParaRPr lang="en-US" b="1" dirty="0"/>
          </a:p>
        </p:txBody>
      </p:sp>
      <p:pic>
        <p:nvPicPr>
          <p:cNvPr id="10" name="Picture 9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4A438AFE-DCF4-F571-4443-9916B4CB5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1648" y="474806"/>
            <a:ext cx="4423719" cy="2727578"/>
          </a:xfrm>
          <a:prstGeom prst="rect">
            <a:avLst/>
          </a:prstGeom>
        </p:spPr>
      </p:pic>
      <p:pic>
        <p:nvPicPr>
          <p:cNvPr id="12" name="Picture 11" descr="A screenshot of a computer&#10;&#10;Description automatically generated">
            <a:extLst>
              <a:ext uri="{FF2B5EF4-FFF2-40B4-BE49-F238E27FC236}">
                <a16:creationId xmlns:a16="http://schemas.microsoft.com/office/drawing/2014/main" id="{981629A6-FCEC-6FC9-76DA-67E3A31FBF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1648" y="3489455"/>
            <a:ext cx="4137358" cy="289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082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2998</TotalTime>
  <Words>326</Words>
  <Application>Microsoft Macintosh PowerPoint</Application>
  <PresentationFormat>Widescreen</PresentationFormat>
  <Paragraphs>46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docs-Roboto</vt:lpstr>
      <vt:lpstr>InterFace</vt:lpstr>
      <vt:lpstr>Office Theme</vt:lpstr>
      <vt:lpstr>EN.580.428  Genomic Data Visualization Lesson 6  Differential Expression Analysis</vt:lpstr>
      <vt:lpstr>K-means clustering algorithm on tSNE?</vt:lpstr>
      <vt:lpstr>PowerPoint Presentation</vt:lpstr>
      <vt:lpstr>Learning objectives</vt:lpstr>
      <vt:lpstr>Definitions</vt:lpstr>
      <vt:lpstr>Motivation</vt:lpstr>
      <vt:lpstr>T-test: testing a difference of means (intuition)</vt:lpstr>
      <vt:lpstr>T-test assumptions and data visualization</vt:lpstr>
      <vt:lpstr>Wilcoxon Rank Sum Test (Mann–Whitney U test ):  testing a difference in ranks (intuition)</vt:lpstr>
      <vt:lpstr>Other statistical tests</vt:lpstr>
      <vt:lpstr>Common visualizations</vt:lpstr>
      <vt:lpstr>Discussion (no right answer)</vt:lpstr>
      <vt:lpstr>Discussion (no right answer)</vt:lpstr>
      <vt:lpstr>Homework (due next Wednesday)</vt:lpstr>
      <vt:lpstr>Tips of what not to do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EN.580.428  Genomic Data Visualization Lesson 7  Differential Expression</dc:title>
  <dc:creator>Jean Fan</dc:creator>
  <cp:lastModifiedBy>Jean Fan</cp:lastModifiedBy>
  <cp:revision>11</cp:revision>
  <dcterms:created xsi:type="dcterms:W3CDTF">2024-02-06T21:44:21Z</dcterms:created>
  <dcterms:modified xsi:type="dcterms:W3CDTF">2026-02-04T12:54:59Z</dcterms:modified>
</cp:coreProperties>
</file>